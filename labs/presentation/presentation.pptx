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jp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jp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jp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jp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jp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jp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jp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jp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jp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jp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jp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jp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jp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jp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Номер 1</a:t>
            </a:r>
            <a:br/>
            <a:br/>
            <a:r>
              <a:rPr/>
              <a:t>Жаворонков Кирилл Александрович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2026-09-12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Жаворонков Кирилл Александрович</a:t>
            </a:r>
          </a:p>
          <a:p>
            <a:pPr lvl="0"/>
            <a:r>
              <a:rPr/>
              <a:t>Студент</a:t>
            </a:r>
          </a:p>
          <a:p>
            <a:pPr lvl="0"/>
            <a:r>
              <a:rPr/>
              <a:t>Группа: НПИбд-01-23</a:t>
            </a:r>
          </a:p>
          <a:p>
            <a:pPr lvl="0"/>
            <a:r>
              <a:rPr/>
              <a:t>Номер студенческого билета: 1132231844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Основной целью работы является установка и настройка языка программирования Julia и среды JupyterLab, а также изучение основных конструкций Julia:</a:t>
            </a:r>
          </a:p>
          <a:p>
            <a:pPr lvl="0"/>
            <a:r>
              <a:rPr/>
              <a:t>типов данных и преобразования типов;</a:t>
            </a:r>
          </a:p>
          <a:p>
            <a:pPr lvl="0"/>
            <a:r>
              <a:rPr/>
              <a:t>функций;</a:t>
            </a:r>
          </a:p>
          <a:p>
            <a:pPr lvl="0"/>
            <a:r>
              <a:rPr/>
              <a:t>векторов и матриц;</a:t>
            </a:r>
          </a:p>
          <a:p>
            <a:pPr lvl="0"/>
            <a:r>
              <a:rPr/>
              <a:t>операций ввода и вывода;</a:t>
            </a:r>
          </a:p>
          <a:p>
            <a:pPr lvl="0"/>
            <a:r>
              <a:rPr/>
              <a:t>арифметических, логических и матричных операций.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1. Установка Julia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Julia была установлена в операционной системе Windows с помощью менеджера пакетов Chocolatey.</a:t>
            </a:r>
          </a:p>
          <a:p>
            <a:pPr lvl="0" indent="0">
              <a:buNone/>
            </a:pPr>
            <a:r>
              <a:rPr>
                <a:latin typeface="Courier"/>
              </a:rPr>
              <a:t>choco install julia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y</a:t>
            </a:r>
          </a:p>
        </p:txBody>
      </p:sp>
      <p:pic>
        <p:nvPicPr>
          <p:cNvPr descr="image/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39800"/>
            <a:ext cx="51054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Установка Julia с помощью Chocolatey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2. Запуск Julia REPL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После установки была запущена Julia версии 1.12.0. Работоспособность среды проверена вычислением выражения </a:t>
            </a:r>
            <a:r>
              <a:rPr>
                <a:latin typeface="Courier"/>
              </a:rPr>
              <a:t>2 + 2</a:t>
            </a:r>
            <a:r>
              <a:rPr/>
              <a:t>.</a:t>
            </a:r>
          </a:p>
        </p:txBody>
      </p:sp>
      <p:pic>
        <p:nvPicPr>
          <p:cNvPr descr="image/2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04900"/>
            <a:ext cx="5105400" cy="207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Запуск Julia REPL и проверка вычислений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3. Работа в JupyterLab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ноутбуке Julia выполнено простое выражение </a:t>
            </a:r>
            <a:r>
              <a:rPr>
                <a:latin typeface="Courier"/>
              </a:rPr>
              <a:t>2 + 3</a:t>
            </a:r>
            <a:r>
              <a:rPr/>
              <a:t>. Также проверена встроенная справочная система Julia с помощью команды </a:t>
            </a:r>
            <a:r>
              <a:rPr>
                <a:latin typeface="Courier"/>
              </a:rPr>
              <a:t>?println</a:t>
            </a:r>
            <a:r>
              <a:rPr/>
              <a:t>.</a:t>
            </a:r>
          </a:p>
        </p:txBody>
      </p:sp>
      <p:pic>
        <p:nvPicPr>
          <p:cNvPr descr="image/3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79400"/>
            <a:ext cx="5105400" cy="372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Выполнение кода и справка по println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4. Типы числовых величин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исследования типов использовалась функция </a:t>
            </a:r>
            <a:r>
              <a:rPr>
                <a:latin typeface="Courier"/>
              </a:rPr>
              <a:t>typeof()</a:t>
            </a:r>
            <a:r>
              <a:rPr/>
              <a:t>. Были рассмотрены целые, вещественные, комплексные и иррациональные числа, а также значения </a:t>
            </a:r>
            <a:r>
              <a:rPr>
                <a:latin typeface="Courier"/>
              </a:rPr>
              <a:t>Inf</a:t>
            </a:r>
            <a:r>
              <a:rPr/>
              <a:t> и </a:t>
            </a:r>
            <a:r>
              <a:rPr>
                <a:latin typeface="Courier"/>
              </a:rPr>
              <a:t>-Inf</a:t>
            </a:r>
            <a:r>
              <a:rPr/>
              <a:t>.</a:t>
            </a:r>
          </a:p>
        </p:txBody>
      </p:sp>
      <p:pic>
        <p:nvPicPr>
          <p:cNvPr descr="image/4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43000"/>
            <a:ext cx="5105400" cy="200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Определение типов и специальные значения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5. Определение функций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Функция возведения аргумента в квадрат была определена с помощью конструкции </a:t>
            </a:r>
            <a:r>
              <a:rPr>
                <a:latin typeface="Courier"/>
              </a:rPr>
              <a:t>function ... end</a:t>
            </a:r>
            <a:r>
              <a:rPr/>
              <a:t> и вызвана для значения </a:t>
            </a:r>
            <a:r>
              <a:rPr>
                <a:latin typeface="Courier"/>
              </a:rPr>
              <a:t>4</a:t>
            </a:r>
            <a:r>
              <a:rPr/>
              <a:t>.</a:t>
            </a:r>
          </a:p>
        </p:txBody>
      </p:sp>
      <p:pic>
        <p:nvPicPr>
          <p:cNvPr descr="image/5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47800"/>
            <a:ext cx="5105400" cy="138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Определение и вызов функции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6. Векторы и матрицы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Были созданы векторы и матрица размера </a:t>
            </a:r>
            <a:r>
              <a:rPr>
                <a:latin typeface="Courier"/>
              </a:rPr>
              <a:t>2×2</a:t>
            </a:r>
            <a:r>
              <a:rPr/>
              <a:t>. Выполнено обращение к элементам массивов, транспонирование и матричное выражение </a:t>
            </a:r>
            <a:r>
              <a:rPr>
                <a:latin typeface="Courier"/>
              </a:rPr>
              <a:t>aa * AA * aa'</a:t>
            </a:r>
            <a:r>
              <a:rPr/>
              <a:t>.</a:t>
            </a:r>
          </a:p>
        </p:txBody>
      </p:sp>
      <p:pic>
        <p:nvPicPr>
          <p:cNvPr descr="image/6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49300"/>
            <a:ext cx="51054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Работа с векторами, матрицами и транспонированием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7. Функции print() и println()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Функция </a:t>
            </a:r>
            <a:r>
              <a:rPr>
                <a:latin typeface="Courier"/>
              </a:rPr>
              <a:t>print()</a:t>
            </a:r>
            <a:r>
              <a:rPr/>
              <a:t> выводит данные без переноса строки, а </a:t>
            </a:r>
            <a:r>
              <a:rPr>
                <a:latin typeface="Courier"/>
              </a:rPr>
              <a:t>println()</a:t>
            </a:r>
            <a:r>
              <a:rPr/>
              <a:t> добавляет перенос строки после каждого вывода.</a:t>
            </a:r>
          </a:p>
        </p:txBody>
      </p:sp>
      <p:pic>
        <p:nvPicPr>
          <p:cNvPr descr="image/7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71600"/>
            <a:ext cx="5105400" cy="154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Сравнение функций print и println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8. Функции show(), readline() и readlines()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Были изучены вывод технического представления объекта с помощью </a:t>
            </a:r>
            <a:r>
              <a:rPr>
                <a:latin typeface="Courier"/>
              </a:rPr>
              <a:t>show()</a:t>
            </a:r>
            <a:r>
              <a:rPr/>
              <a:t>, чтение одной строки через </a:t>
            </a:r>
            <a:r>
              <a:rPr>
                <a:latin typeface="Courier"/>
              </a:rPr>
              <a:t>readline()</a:t>
            </a:r>
            <a:r>
              <a:rPr/>
              <a:t> и чтение нескольких строк через </a:t>
            </a:r>
            <a:r>
              <a:rPr>
                <a:latin typeface="Courier"/>
              </a:rPr>
              <a:t>readlines()</a:t>
            </a:r>
            <a:r>
              <a:rPr/>
              <a:t>.</a:t>
            </a:r>
          </a:p>
        </p:txBody>
      </p:sp>
      <p:pic>
        <p:nvPicPr>
          <p:cNvPr descr="image/8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31900"/>
            <a:ext cx="5105400" cy="181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Использование show, readline и readlines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9. Запись и чтение файла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записи строки в файл использовалась функция </a:t>
            </a:r>
            <a:r>
              <a:rPr>
                <a:latin typeface="Courier"/>
              </a:rPr>
              <a:t>write()</a:t>
            </a:r>
            <a:r>
              <a:rPr/>
              <a:t>, а для чтения содержимого — функция </a:t>
            </a:r>
            <a:r>
              <a:rPr>
                <a:latin typeface="Courier"/>
              </a:rPr>
              <a:t>read()</a:t>
            </a:r>
            <a:r>
              <a:rPr/>
              <a:t>.</a:t>
            </a:r>
          </a:p>
        </p:txBody>
      </p:sp>
      <p:pic>
        <p:nvPicPr>
          <p:cNvPr descr="image/9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65200"/>
            <a:ext cx="5105400" cy="234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Запись и чтение текстового файла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10. Чтение табличных данных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 помощью модуля </a:t>
            </a:r>
            <a:r>
              <a:rPr>
                <a:latin typeface="Courier"/>
              </a:rPr>
              <a:t>DelimitedFiles</a:t>
            </a:r>
            <a:r>
              <a:rPr/>
              <a:t> и функции </a:t>
            </a:r>
            <a:r>
              <a:rPr>
                <a:latin typeface="Courier"/>
              </a:rPr>
              <a:t>readdlm()</a:t>
            </a:r>
            <a:r>
              <a:rPr/>
              <a:t> был прочитан файл с таблицей размером </a:t>
            </a:r>
            <a:r>
              <a:rPr>
                <a:latin typeface="Courier"/>
              </a:rPr>
              <a:t>3×3</a:t>
            </a:r>
            <a:r>
              <a:rPr/>
              <a:t>.</a:t>
            </a:r>
          </a:p>
        </p:txBody>
      </p:sp>
      <p:pic>
        <p:nvPicPr>
          <p:cNvPr descr="image/1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44600"/>
            <a:ext cx="5105400" cy="179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Чтение данных функцией readdlm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11. Логические операции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Были выполнены операции логического «И», логического «ИЛИ» и отрицания. Дополнительно проверены целочисленное деление и остаток от деления.</a:t>
            </a:r>
          </a:p>
        </p:txBody>
      </p:sp>
      <p:pic>
        <p:nvPicPr>
          <p:cNvPr descr="image/1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01700"/>
            <a:ext cx="5105400" cy="247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Логические операции и целочисленное деление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12. Операции над векторами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Выполнены сложение и вычитание векторов, а также умножение вектора на скаляр.</a:t>
            </a:r>
          </a:p>
        </p:txBody>
      </p:sp>
      <p:pic>
        <p:nvPicPr>
          <p:cNvPr descr="image/12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87800" y="203200"/>
            <a:ext cx="42672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Операции над векторами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13. Скалярное произведение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работы со скалярным произведением подключён модуль </a:t>
            </a:r>
            <a:r>
              <a:rPr>
                <a:latin typeface="Courier"/>
              </a:rPr>
              <a:t>LinearAlgebra</a:t>
            </a:r>
            <a:r>
              <a:rPr/>
              <a:t>.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using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LinearAlgebra</a:t>
            </a:r>
            <a:br/>
            <a:r>
              <a:rPr>
                <a:solidFill>
                  <a:srgbClr val="06287E"/>
                </a:solidFill>
                <a:latin typeface="Courier"/>
              </a:rPr>
              <a:t>dot</a:t>
            </a:r>
            <a:r>
              <a:rPr>
                <a:latin typeface="Courier"/>
              </a:rPr>
              <a:t>(v1, v2)</a:t>
            </a:r>
          </a:p>
          <a:p>
            <a:pPr lvl="0" indent="0" marL="0">
              <a:buNone/>
            </a:pPr>
            <a:r>
              <a:rPr/>
              <a:t>Результат скалярного произведения равен </a:t>
            </a:r>
            <a:r>
              <a:rPr>
                <a:latin typeface="Courier"/>
              </a:rPr>
              <a:t>32</a:t>
            </a:r>
            <a:r>
              <a:rPr/>
              <a:t>.</a:t>
            </a:r>
          </a:p>
        </p:txBody>
      </p:sp>
      <p:pic>
        <p:nvPicPr>
          <p:cNvPr descr="image/13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50900"/>
            <a:ext cx="5105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Скалярное произведение и транспонирование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14. Операции над матрицами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Были выполнены сложение, вычитание, матричное умножение, умножение на скаляр и транспонирование матриц. Также сравнены операции </a:t>
            </a:r>
            <a:r>
              <a:rPr>
                <a:latin typeface="Courier"/>
              </a:rPr>
              <a:t>*</a:t>
            </a:r>
            <a:r>
              <a:rPr/>
              <a:t>, </a:t>
            </a:r>
            <a:r>
              <a:rPr>
                <a:latin typeface="Courier"/>
              </a:rPr>
              <a:t>.*</a:t>
            </a:r>
            <a:r>
              <a:rPr/>
              <a:t> и </a:t>
            </a:r>
            <a:r>
              <a:rPr>
                <a:latin typeface="Courier"/>
              </a:rPr>
              <a:t>.^</a:t>
            </a:r>
            <a:r>
              <a:rPr/>
              <a:t>.</a:t>
            </a:r>
          </a:p>
        </p:txBody>
      </p:sp>
      <p:pic>
        <p:nvPicPr>
          <p:cNvPr descr="image/14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30300"/>
            <a:ext cx="51054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Операции над матрицами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15. Функция parse()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Функция </a:t>
            </a:r>
            <a:r>
              <a:rPr>
                <a:latin typeface="Courier"/>
              </a:rPr>
              <a:t>parse()</a:t>
            </a:r>
            <a:r>
              <a:rPr/>
              <a:t> преобразует строковое представление в значение заданного типа. В примере строка преобразована в </a:t>
            </a:r>
            <a:r>
              <a:rPr>
                <a:latin typeface="Courier"/>
              </a:rPr>
              <a:t>Int64</a:t>
            </a:r>
            <a:r>
              <a:rPr/>
              <a:t> и </a:t>
            </a:r>
            <a:r>
              <a:rPr>
                <a:latin typeface="Courier"/>
              </a:rPr>
              <a:t>Float64</a:t>
            </a:r>
            <a:r>
              <a:rPr/>
              <a:t>, а введённое число использовано для вычисления квадрата.</a:t>
            </a:r>
          </a:p>
        </p:txBody>
      </p:sp>
      <p:pic>
        <p:nvPicPr>
          <p:cNvPr descr="image/15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60500"/>
            <a:ext cx="5105400" cy="135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Преобразование строк функцией parse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16. Арифметические операции и сравнение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Были выполнены сложение, вычитание, умножение, деление, возведение в степень, извлечение корня и операции сравнения.</a:t>
            </a:r>
          </a:p>
        </p:txBody>
      </p:sp>
      <p:pic>
        <p:nvPicPr>
          <p:cNvPr descr="image/16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92100"/>
            <a:ext cx="51054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Арифметические операции и операции сравнения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лабораторной работы была установлена и настроена Julia в операционной системе Windows, а также выполнено подключение Julia к JupyterLab.</a:t>
            </a:r>
          </a:p>
          <a:p>
            <a:pPr lvl="0" indent="0" marL="0">
              <a:buNone/>
            </a:pPr>
            <a:r>
              <a:rPr/>
              <a:t>Были изучены типы данных, преобразование типов, функции, векторы и матрицы. Выполнены операции ввода и вывода, арифметические, логические и матричные операции.</a:t>
            </a:r>
          </a:p>
          <a:p>
            <a:pPr lvl="0" indent="0" marL="0">
              <a:buNone/>
            </a:pPr>
            <a:r>
              <a:rPr/>
              <a:t>Получены практические навыки работы с интерактивными ноутбуками Jupyter и базовым синтаксисом языка программирования Julia.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</dc:title>
  <dc:creator>Жаворонков Кирилл Александрович</dc:creator>
  <cp:keywords/>
  <dcterms:created xsi:type="dcterms:W3CDTF">2026-09-12T19:18:20Z</dcterms:created>
  <dcterms:modified xsi:type="dcterms:W3CDTF">2026-09-12T19:18:20Z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2026-09-12</vt:lpwstr>
  </property>
  <property fmtid="{D5CDD505-2E9C-101B-9397-08002B2CF9AE}" pid="6" name="date-format">
    <vt:lpwstr>YYYY-MM-DD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license">
    <vt:lpwstr/>
  </property>
  <property fmtid="{D5CDD505-2E9C-101B-9397-08002B2CF9AE}" pid="12" name="subtitle">
    <vt:lpwstr>Номер 1</vt:lpwstr>
  </property>
  <property fmtid="{D5CDD505-2E9C-101B-9397-08002B2CF9AE}" pid="13" name="toc-title">
    <vt:lpwstr>Содержание</vt:lpwstr>
  </property>
</Properties>
</file>