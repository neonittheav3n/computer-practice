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8ED1FC"/>
                </a:solidFill>
              </a:defRPr>
            </a:pPr>
            <a:r>
              <a:t>Докладчик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4F7FB"/>
                </a:solidFill>
              </a:defRPr>
            </a:pPr>
            <a:r>
              <a:t>Жаворонков Кирилл Александрович</a:t>
            </a:r>
          </a:p>
          <a:p>
            <a:pPr>
              <a:spcAft>
                <a:spcPts val="1200"/>
              </a:spcAft>
              <a:defRPr sz="1800">
                <a:solidFill>
                  <a:srgbClr val="F4F7FB"/>
                </a:solidFill>
              </a:defRPr>
            </a:pPr>
            <a:r>
              <a:t>Студент</a:t>
            </a:r>
          </a:p>
          <a:p>
            <a:pPr>
              <a:spcAft>
                <a:spcPts val="1200"/>
              </a:spcAft>
              <a:defRPr sz="1800">
                <a:solidFill>
                  <a:srgbClr val="F4F7FB"/>
                </a:solidFill>
              </a:defRPr>
            </a:pPr>
            <a:r>
              <a:t>Группа: НПИбд-01-23</a:t>
            </a:r>
          </a:p>
          <a:p>
            <a:pPr>
              <a:spcAft>
                <a:spcPts val="1200"/>
              </a:spcAft>
              <a:defRPr sz="1800">
                <a:solidFill>
                  <a:srgbClr val="F4F7FB"/>
                </a:solidFill>
              </a:defRPr>
            </a:pPr>
            <a:r>
              <a:t>Номер студенческого билета: 1132231844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B9CD"/>
                </a:solidFill>
              </a:defRPr>
            </a:pPr>
            <a:r>
              <a:t>Жаворонков К. А. · Лабораторная работа №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8ED1FC"/>
                </a:solidFill>
              </a:defRPr>
            </a:pPr>
            <a:r>
              <a:t>Цель работы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4F7FB"/>
                </a:solidFill>
              </a:defRPr>
            </a:pPr>
            <a:r>
              <a:t>Изучить структуры данных Julia: множества, кортежи, словари, векторы и матрицы.</a:t>
            </a:r>
          </a:p>
          <a:p>
            <a:pPr>
              <a:spcAft>
                <a:spcPts val="1200"/>
              </a:spcAft>
              <a:defRPr sz="2100">
                <a:solidFill>
                  <a:srgbClr val="F4F7FB"/>
                </a:solidFill>
              </a:defRPr>
            </a:pPr>
            <a:r>
              <a:t>Освоить создание и преобразование массивов.</a:t>
            </a:r>
          </a:p>
          <a:p>
            <a:pPr>
              <a:spcAft>
                <a:spcPts val="1200"/>
              </a:spcAft>
              <a:defRPr sz="2100">
                <a:solidFill>
                  <a:srgbClr val="F4F7FB"/>
                </a:solidFill>
              </a:defRPr>
            </a:pPr>
            <a:r>
              <a:t>Научиться применять фильтрацию, сортировку, статистические функции и пакет Primes.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B9CD"/>
                </a:solidFill>
              </a:defRPr>
            </a:pPr>
            <a:r>
              <a:t>Жаворонков К. А. · Лабораторная работа №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8ED1FC"/>
                </a:solidFill>
              </a:defRPr>
            </a:pPr>
            <a:r>
              <a:t>Слайд 1. Множества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5212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4F7FB"/>
                </a:solidFill>
              </a:defRPr>
            </a:pPr>
            <a:r>
              <a:t>Созданы множества A, B и C.</a:t>
            </a:r>
          </a:p>
          <a:p>
            <a:pPr>
              <a:spcAft>
                <a:spcPts val="1200"/>
              </a:spcAft>
              <a:defRPr sz="2100">
                <a:solidFill>
                  <a:srgbClr val="F4F7FB"/>
                </a:solidFill>
              </a:defRPr>
            </a:pPr>
            <a:r>
              <a:t>Выполнено объединение попарных пересечений.</a:t>
            </a:r>
          </a:p>
          <a:p>
            <a:pPr>
              <a:spcAft>
                <a:spcPts val="1200"/>
              </a:spcAft>
              <a:defRPr sz="2100">
                <a:solidFill>
                  <a:srgbClr val="F4F7FB"/>
                </a:solidFill>
              </a:defRPr>
            </a:pPr>
            <a:r>
              <a:t>Получено P = {0, 1, 3, 4, 7, 9}; |P| = 6.</a:t>
            </a:r>
          </a:p>
        </p:txBody>
      </p:sp>
      <p:pic>
        <p:nvPicPr>
          <p:cNvPr id="4" name="Picture 3" descr="KdQk0Tb38WLF9s6NiVoWW_urPWqgTuXxiRAktvjtk868itQAPZWoVjK_yCkFX3uvVP0W9eHHPld4yrhBFb-ryFQ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34440"/>
            <a:ext cx="5212080" cy="29471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B9CD"/>
                </a:solidFill>
              </a:defRPr>
            </a:pPr>
            <a:r>
              <a:t>Жаворонков К. А. · Лабораторная работа №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8ED1FC"/>
                </a:solidFill>
              </a:defRPr>
            </a:pPr>
            <a:r>
              <a:t>Слайд 2. Диапазоны и фильтрация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5212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4F7FB"/>
                </a:solidFill>
              </a:defRPr>
            </a:pPr>
            <a:r>
              <a:t>Создан массив чисел от 1 до 25.</a:t>
            </a:r>
          </a:p>
          <a:p>
            <a:pPr>
              <a:spcAft>
                <a:spcPts val="1200"/>
              </a:spcAft>
              <a:defRPr sz="2100">
                <a:solidFill>
                  <a:srgbClr val="F4F7FB"/>
                </a:solidFill>
              </a:defRPr>
            </a:pPr>
            <a:r>
              <a:t>С помощью filter выбраны элементы, большие 20: [21, 22, 23, 24, 25].</a:t>
            </a:r>
          </a:p>
          <a:p>
            <a:pPr>
              <a:spcAft>
                <a:spcPts val="1200"/>
              </a:spcAft>
              <a:defRPr sz="2100">
                <a:solidFill>
                  <a:srgbClr val="F4F7FB"/>
                </a:solidFill>
              </a:defRPr>
            </a:pPr>
            <a:r>
              <a:t>Рассмотрены прямой и обратный диапазоны.</a:t>
            </a:r>
          </a:p>
        </p:txBody>
      </p:sp>
      <p:pic>
        <p:nvPicPr>
          <p:cNvPr id="4" name="Picture 3" descr="CvuXHhd6iPLoy4UdwNIjSZqpzVjoLYP5KxbVyHthZnasBPJF5nLqnxodygMl3EktWxCVQoti8SzFLZKg0P6fA-O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34440"/>
            <a:ext cx="5212080" cy="78284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B9CD"/>
                </a:solidFill>
              </a:defRPr>
            </a:pPr>
            <a:r>
              <a:t>Жаворонков К. А. · Лабораторная работа №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8ED1FC"/>
                </a:solidFill>
              </a:defRPr>
            </a:pPr>
            <a:r>
              <a:t>Слайд 3. Повторение элементов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5212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4F7FB"/>
                </a:solidFill>
              </a:defRPr>
            </a:pPr>
            <a:r>
              <a:t>Использованы fill, repeat и vcat.</a:t>
            </a:r>
          </a:p>
          <a:p>
            <a:pPr>
              <a:spcAft>
                <a:spcPts val="1200"/>
              </a:spcAft>
              <a:defRPr sz="2100">
                <a:solidFill>
                  <a:srgbClr val="F4F7FB"/>
                </a:solidFill>
              </a:defRPr>
            </a:pPr>
            <a:r>
              <a:t>repeat(tmp, 10) повторяет весь вектор.</a:t>
            </a:r>
          </a:p>
          <a:p>
            <a:pPr>
              <a:spcAft>
                <a:spcPts val="1200"/>
              </a:spcAft>
              <a:defRPr sz="2100">
                <a:solidFill>
                  <a:srgbClr val="F4F7FB"/>
                </a:solidFill>
              </a:defRPr>
            </a:pPr>
            <a:r>
              <a:t>fill(value, n) повторяет один элемент заданное число раз.</a:t>
            </a:r>
          </a:p>
        </p:txBody>
      </p:sp>
      <p:pic>
        <p:nvPicPr>
          <p:cNvPr id="4" name="Picture 3" descr="-vBgiBFCTJIOA5xhn_dOK9vk-4dfEQIhPZT9TQD3vBkPcJkNOCMAZlVI9yvjlvyOrJeJnYXqpSNFoqN4u_fvq2k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34440"/>
            <a:ext cx="5212080" cy="49397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B9CD"/>
                </a:solidFill>
              </a:defRPr>
            </a:pPr>
            <a:r>
              <a:t>Жаворонков К. А. · Лабораторная работа №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8ED1FC"/>
                </a:solidFill>
              </a:defRPr>
            </a:pPr>
            <a:r>
              <a:t>Слайд 4. Генераторы и zip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5212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4F7FB"/>
                </a:solidFill>
              </a:defRPr>
            </a:pPr>
            <a:r>
              <a:t>Созданы векторы степенных выражений и строк fn1 … fn30.</a:t>
            </a:r>
          </a:p>
          <a:p>
            <a:pPr>
              <a:spcAft>
                <a:spcPts val="1200"/>
              </a:spcAft>
              <a:defRPr sz="2100">
                <a:solidFill>
                  <a:srgbClr val="F4F7FB"/>
                </a:solidFill>
              </a:defRPr>
            </a:pPr>
            <a:r>
              <a:t>С помощью zip сформирован вектор из 12 кортежей.</a:t>
            </a:r>
          </a:p>
          <a:p>
            <a:pPr>
              <a:spcAft>
                <a:spcPts val="1200"/>
              </a:spcAft>
              <a:defRPr sz="2100">
                <a:solidFill>
                  <a:srgbClr val="F4F7FB"/>
                </a:solidFill>
              </a:defRPr>
            </a:pPr>
            <a:r>
              <a:t>Генераторы позволяют компактно задавать вычисления.</a:t>
            </a:r>
          </a:p>
        </p:txBody>
      </p:sp>
      <p:pic>
        <p:nvPicPr>
          <p:cNvPr id="4" name="Picture 3" descr="dU27PIh3CaqbJKcWObNzhDzLe3r7bLB4Mj4YOBQlNaGPPe0LfFXbwrCkWH5AvgY0AO_lGyID4yrBE9wEue8zE67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34440"/>
            <a:ext cx="5212080" cy="374515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B9CD"/>
                </a:solidFill>
              </a:defRPr>
            </a:pPr>
            <a:r>
              <a:t>Жаворонков К. А. · Лабораторная работа №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8ED1FC"/>
                </a:solidFill>
              </a:defRPr>
            </a:pPr>
            <a:r>
              <a:t>Слайд 5. Операции над массивами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5212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4F7FB"/>
                </a:solidFill>
              </a:defRPr>
            </a:pPr>
            <a:r>
              <a:t>Сформированы случайные массивы x и y длиной 250 элементов.</a:t>
            </a:r>
          </a:p>
          <a:p>
            <a:pPr>
              <a:spcAft>
                <a:spcPts val="1200"/>
              </a:spcAft>
              <a:defRPr sz="2100">
                <a:solidFill>
                  <a:srgbClr val="F4F7FB"/>
                </a:solidFill>
              </a:defRPr>
            </a:pPr>
            <a:r>
              <a:t>Вычислены разности соседних элементов и линейные комбинации.</a:t>
            </a:r>
          </a:p>
          <a:p>
            <a:pPr>
              <a:spcAft>
                <a:spcPts val="1200"/>
              </a:spcAft>
              <a:defRPr sz="2100">
                <a:solidFill>
                  <a:srgbClr val="F4F7FB"/>
                </a:solidFill>
              </a:defRPr>
            </a:pPr>
            <a:r>
              <a:t>Также применены тригонометрические функции поэлементно.</a:t>
            </a:r>
          </a:p>
        </p:txBody>
      </p:sp>
      <p:pic>
        <p:nvPicPr>
          <p:cNvPr id="4" name="Picture 3" descr="wEi4nBt0bovPHooB-M3po_ABAj1jxbmPGvnLLIPwENOzMZksIEIc1nz6YTXv4dbed8syWeJ1Ca7IW06__r5PyPv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34440"/>
            <a:ext cx="5212080" cy="53659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B9CD"/>
                </a:solidFill>
              </a:defRPr>
            </a:pPr>
            <a:r>
              <a:t>Жаворонков К. А. · Лабораторная работа №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8ED1FC"/>
                </a:solidFill>
              </a:defRPr>
            </a:pPr>
            <a:r>
              <a:t>Слайд 6. Фильтрация и подсчёт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5212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4F7FB"/>
                </a:solidFill>
              </a:defRPr>
            </a:pPr>
            <a:r>
              <a:t>Использованы findall, count, maximum и unique.</a:t>
            </a:r>
          </a:p>
          <a:p>
            <a:pPr>
              <a:spcAft>
                <a:spcPts val="1200"/>
              </a:spcAft>
              <a:defRPr sz="2100">
                <a:solidFill>
                  <a:srgbClr val="F4F7FB"/>
                </a:solidFill>
              </a:defRPr>
            </a:pPr>
            <a:r>
              <a:t>Для одного запуска: элементов y &gt; 600 — 83; чётных — 137; нечётных — 113.</a:t>
            </a:r>
          </a:p>
          <a:p>
            <a:pPr>
              <a:spcAft>
                <a:spcPts val="1200"/>
              </a:spcAft>
              <a:defRPr sz="2100">
                <a:solidFill>
                  <a:srgbClr val="F4F7FB"/>
                </a:solidFill>
              </a:defRPr>
            </a:pPr>
            <a:r>
              <a:t>Количество элементов x, кратных 7, — 34.</a:t>
            </a:r>
          </a:p>
        </p:txBody>
      </p:sp>
      <p:pic>
        <p:nvPicPr>
          <p:cNvPr id="4" name="Picture 3" descr="vVgE3Eja_OpmzN6dDPWQOK3uIpdIk-BOFUKaJMffSSWwseKA7JMdMl4H0-_Pg7R9qcSUUL5U8nfodXXfes99Oy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34440"/>
            <a:ext cx="5212080" cy="32828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B9CD"/>
                </a:solidFill>
              </a:defRPr>
            </a:pPr>
            <a:r>
              <a:t>Жаворонков К. А. · Лабораторная работа №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8ED1FC"/>
                </a:solidFill>
              </a:defRPr>
            </a:pPr>
            <a:r>
              <a:t>Слайд 7. Сортировка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5212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4F7FB"/>
                </a:solidFill>
              </a:defRPr>
            </a:pPr>
            <a:r>
              <a:t>sortperm позволяет упорядочить x по значениям y.</a:t>
            </a:r>
          </a:p>
          <a:p>
            <a:pPr>
              <a:spcAft>
                <a:spcPts val="1200"/>
              </a:spcAft>
              <a:defRPr sz="2100">
                <a:solidFill>
                  <a:srgbClr val="F4F7FB"/>
                </a:solidFill>
              </a:defRPr>
            </a:pPr>
            <a:r>
              <a:t>sort(x, rev=true) возвращает элементы x в порядке убывания.</a:t>
            </a:r>
          </a:p>
          <a:p>
            <a:pPr>
              <a:spcAft>
                <a:spcPts val="1200"/>
              </a:spcAft>
              <a:defRPr sz="2100">
                <a:solidFill>
                  <a:srgbClr val="F4F7FB"/>
                </a:solidFill>
              </a:defRPr>
            </a:pPr>
            <a:r>
              <a:t>unique удаляет повторяющиеся значения.</a:t>
            </a:r>
          </a:p>
        </p:txBody>
      </p:sp>
      <p:pic>
        <p:nvPicPr>
          <p:cNvPr id="4" name="Picture 3" descr="KK-5MT6KgGI1lX9yiFNwQ3wVx6oU-_CuURk0gtGygPmEhZgw1hRAVdY0GYTYwlRvSdBrA1kZTSbGmwlD33eN2y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34440"/>
            <a:ext cx="5212080" cy="56898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B9CD"/>
                </a:solidFill>
              </a:defRPr>
            </a:pPr>
            <a:r>
              <a:t>Жаворонков К. А. · Лабораторная работа №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8ED1FC"/>
                </a:solidFill>
              </a:defRPr>
            </a:pPr>
            <a:r>
              <a:t>Слайд 8. Квадраты и простые числа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5212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4F7FB"/>
                </a:solidFill>
              </a:defRPr>
            </a:pPr>
            <a:r>
              <a:t>Построены квадраты чисел от 1 до 100.</a:t>
            </a:r>
          </a:p>
          <a:p>
            <a:pPr>
              <a:spcAft>
                <a:spcPts val="1200"/>
              </a:spcAft>
              <a:defRPr sz="2100">
                <a:solidFill>
                  <a:srgbClr val="F4F7FB"/>
                </a:solidFill>
              </a:defRPr>
            </a:pPr>
            <a:r>
              <a:t>Последние значения: 9604, 9801, 10000.</a:t>
            </a:r>
          </a:p>
          <a:p>
            <a:pPr>
              <a:spcAft>
                <a:spcPts val="1200"/>
              </a:spcAft>
              <a:defRPr sz="2100">
                <a:solidFill>
                  <a:srgbClr val="F4F7FB"/>
                </a:solidFill>
              </a:defRPr>
            </a:pPr>
            <a:r>
              <a:t>В диапазоне до 1000 найдено 168 простых чисел.</a:t>
            </a:r>
          </a:p>
        </p:txBody>
      </p:sp>
      <p:pic>
        <p:nvPicPr>
          <p:cNvPr id="4" name="Picture 3" descr="Cv-I6yHGXoBAyuF9IVNnhFkoIxp3FgmDkc9e-yOJwHqR3VT-e3-kxLNYWxbYCwTQRLQp9biEV4tTCivM7SVnQwo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34440"/>
            <a:ext cx="5212080" cy="63144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B9CD"/>
                </a:solidFill>
              </a:defRPr>
            </a:pPr>
            <a:r>
              <a:t>Жаворонков К. А. · Лабораторная работа №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8ED1FC"/>
                </a:solidFill>
              </a:defRPr>
            </a:pPr>
            <a:r>
              <a:t>Слайд 9. Пакет Primes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5212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4F7FB"/>
                </a:solidFill>
              </a:defRPr>
            </a:pPr>
            <a:r>
              <a:t>89-е простое число равно 461.</a:t>
            </a:r>
          </a:p>
          <a:p>
            <a:pPr>
              <a:spcAft>
                <a:spcPts val="1200"/>
              </a:spcAft>
              <a:defRPr sz="2100">
                <a:solidFill>
                  <a:srgbClr val="F4F7FB"/>
                </a:solidFill>
              </a:defRPr>
            </a:pPr>
            <a:r>
              <a:t>Срез простых чисел с 89-го по 99-е: [461, 463, 467, 479, 487, 491, 499, 503, 509, 521, 523].</a:t>
            </a:r>
          </a:p>
          <a:p>
            <a:pPr>
              <a:spcAft>
                <a:spcPts val="1200"/>
              </a:spcAft>
              <a:defRPr sz="2100">
                <a:solidFill>
                  <a:srgbClr val="F4F7FB"/>
                </a:solidFill>
              </a:defRPr>
            </a:pPr>
            <a:r>
              <a:t>Для вычислений подключён пакет Primes.</a:t>
            </a:r>
          </a:p>
        </p:txBody>
      </p:sp>
      <p:pic>
        <p:nvPicPr>
          <p:cNvPr id="4" name="Picture 3" descr="1DdwtdQqKwIO8WiHXtKqIYeggzW5WG7FAsoI31BsDEr9h7xCcfwvfE9n7xgksDZ8o23XF96xTZnI7LbiZLs21KV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34440"/>
            <a:ext cx="5212080" cy="32411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B9CD"/>
                </a:solidFill>
              </a:defRPr>
            </a:pPr>
            <a:r>
              <a:t>Жаворонков К. А. · Лабораторная работа № 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8ED1FC"/>
                </a:solidFill>
              </a:defRPr>
            </a:pPr>
            <a:r>
              <a:t>Слайд 10. Вычисление сумм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5212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4F7FB"/>
                </a:solidFill>
              </a:defRPr>
            </a:pPr>
            <a:r>
              <a:t>Вычислены три суммы из задания.</a:t>
            </a:r>
          </a:p>
          <a:p>
            <a:pPr>
              <a:spcAft>
                <a:spcPts val="1200"/>
              </a:spcAft>
              <a:defRPr sz="1800">
                <a:solidFill>
                  <a:srgbClr val="F4F7FB"/>
                </a:solidFill>
              </a:defRPr>
            </a:pPr>
            <a:r>
              <a:t>sum_6_1 = 251835580835.</a:t>
            </a:r>
          </a:p>
          <a:p>
            <a:pPr>
              <a:spcAft>
                <a:spcPts val="1200"/>
              </a:spcAft>
              <a:defRPr sz="1800">
                <a:solidFill>
                  <a:srgbClr val="F4F7FB"/>
                </a:solidFill>
              </a:defRPr>
            </a:pPr>
            <a:r>
              <a:t>sum_6_2 ≈ 5.1948766717837875e10.</a:t>
            </a:r>
          </a:p>
          <a:p>
            <a:pPr>
              <a:spcAft>
                <a:spcPts val="1200"/>
              </a:spcAft>
              <a:defRPr sz="1800">
                <a:solidFill>
                  <a:srgbClr val="F4F7FB"/>
                </a:solidFill>
              </a:defRPr>
            </a:pPr>
            <a:r>
              <a:t>sum_6_3 ≈ 6.976346137897618.</a:t>
            </a:r>
          </a:p>
        </p:txBody>
      </p:sp>
      <p:pic>
        <p:nvPicPr>
          <p:cNvPr id="4" name="Picture 3" descr="TCxjUw6hVQ8gqjJGRSp0AdnIbE4kUoNt7Ie7UvkgfT9t3l75njAifk5Y2V0mDnzkdGsFnoWioqhCu2AmEkuePCx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34440"/>
            <a:ext cx="5212080" cy="22183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B9CD"/>
                </a:solidFill>
              </a:defRPr>
            </a:pPr>
            <a:r>
              <a:t>Жаворонков К. А. · Лабораторная работа № 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8ED1FC"/>
                </a:solidFill>
              </a:defRPr>
            </a:pPr>
            <a:r>
              <a:t>Выводы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4F7FB"/>
                </a:solidFill>
              </a:defRPr>
            </a:pPr>
            <a:r>
              <a:t>Изучены основные структуры данных Julia и операции над ними.</a:t>
            </a:r>
          </a:p>
          <a:p>
            <a:pPr>
              <a:spcAft>
                <a:spcPts val="1200"/>
              </a:spcAft>
              <a:defRPr sz="1800">
                <a:solidFill>
                  <a:srgbClr val="F4F7FB"/>
                </a:solidFill>
              </a:defRPr>
            </a:pPr>
            <a:r>
              <a:t>Освоены генераторы, фильтрация, сортировка и статистическая обработка массивов.</a:t>
            </a:r>
          </a:p>
          <a:p>
            <a:pPr>
              <a:spcAft>
                <a:spcPts val="1200"/>
              </a:spcAft>
              <a:defRPr sz="1800">
                <a:solidFill>
                  <a:srgbClr val="F4F7FB"/>
                </a:solidFill>
              </a:defRPr>
            </a:pPr>
            <a:r>
              <a:t>Получены практические навыки работы с пакетом Primes.</a:t>
            </a:r>
          </a:p>
          <a:p>
            <a:pPr>
              <a:spcAft>
                <a:spcPts val="1200"/>
              </a:spcAft>
              <a:defRPr sz="1800">
                <a:solidFill>
                  <a:srgbClr val="F4F7FB"/>
                </a:solidFill>
              </a:defRPr>
            </a:pPr>
            <a:r>
              <a:t>При работе с большими произведениями учтена возможность переполнения Int64.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B9CD"/>
                </a:solidFill>
              </a:defRPr>
            </a:pPr>
            <a:r>
              <a:t>Жаворонков К. А. · Лабораторная работа №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